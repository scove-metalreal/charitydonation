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0E3"/>
    <a:srgbClr val="8EDEC1"/>
    <a:srgbClr val="E7F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156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ACF25-626C-E9A9-ABA2-44C8CA5B6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2A2463-16AC-8798-0944-3CF0DE40C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BC0B2-D102-3B0A-B0E9-7701B94B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3ECD1-483E-8E46-7237-FF8A558F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B2678-B171-77AA-D5BF-5D094DC8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34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D1AE-A0B4-BE77-73EB-44325C51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53761-ECC6-E550-4258-3688F5FFA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55770-4168-CE29-64F9-0E6C6D3F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F3F00-0EEA-1711-4AF4-0338445F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D0C2B-609F-3CEE-6141-559B80260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54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5129D-426C-837F-311C-7A832E5D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A162E-769E-7936-B17B-AB5D540AA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1014E-65E4-BC9F-C7E6-725F7E682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5F1B8-432C-A802-7E1A-031B3172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0F5-C910-D816-A9B9-8367CB16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ED79-1943-9593-14A9-0074B2C4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7E129-6EDD-E657-5824-0E3267F32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163B2-2D6B-1693-8BD8-77B52DF12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F64A1-3404-58A9-C54B-BD2648CD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9478A-C163-B8E8-A728-93F833C6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67574-2DEF-4918-7F47-83AF2977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4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3D3C5-C734-BCC5-4163-126627EF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B25A3-2444-BE6B-C760-3F4B8BD4E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C4674-3E2F-3DF3-18C2-10C14D32A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0FC9FF-E99D-7B9D-25CC-D56CCDE702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1ABF56-E0F0-9ADC-0F5F-72C963DC0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BA34D1-0607-3E6C-5DDD-C8065D87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EF9DF-6A9D-5D17-E890-FBFC2EEB4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F68F60-AFA9-FEAF-E2C8-235A20DE7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9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8BB5-0C29-93D6-C211-683987207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7CB9E9-BAB8-83C3-F69C-12E29FC04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06617-62AB-34E7-6E41-E1A34236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13DCE-0F80-48B2-28B0-2AA88E32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9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D6E44-EB83-A0C3-D8A5-EA0A7F3D7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9CEE07-0EB4-712B-A588-5D8B2EA7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E21A9-E301-7B96-1634-5E76540A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61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962C-90D4-1903-C735-5049BF8D4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BBA6-EA60-9066-5233-E9660901F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7D7426-54CA-38D4-B9AE-0127708E7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30FD3-4D00-0262-6099-150FDE3A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65858C-6E09-BB94-E9FD-F61C32F5E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F8B0E-BFDE-9E52-2BD4-5EBCC3805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6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9A87-C914-A25F-9212-A4DD776E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16F59C-4E5B-C6B1-B0E8-58F2EE73FD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272D0-4A02-FEE4-1CDA-FABADDFDD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3C864-BFBF-A8F3-8BFC-9F0E8E17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B5FDC-D17E-25C4-56D8-54B61F85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DB7F8-F3E0-DD71-F21A-E05BB2C74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37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FBBD1-7286-12A4-EBE5-5C32AD1C5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A67BA-26E9-8CAF-CD6C-6AEFDEC96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DCED1-4B66-C34B-E5D1-CE2024C48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24DCB-9C38-F066-EAF5-79AA04A04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C09A8-B104-018A-B830-40806F41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5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1A6013-8261-4C1D-9014-2770FAE8D4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463AB-AC05-3E74-FD90-62776C70F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DEE3A-B15A-B25A-14C0-53B1E9F13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F2DD-8B2B-661D-3EA1-0718D102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5C737-EBB0-C617-FBA3-1D26C28D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2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D5B14-1E07-4643-24E4-DD701E38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87449-6A77-BAE5-9155-6B0F645AD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595A7-AE00-CAA8-FBE1-B6F1ED868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86E89-229B-40BE-925A-7A55914CA7A2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91A46-F0EE-4E67-423E-83F289850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93DA2-C254-C5D4-4B10-C0B1DB83E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237B1-0E8A-4DA4-A95D-A92A41DD7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75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slide" Target="slide11.xml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110.png"/><Relationship Id="rId4" Type="http://schemas.openxmlformats.org/officeDocument/2006/relationships/image" Target="../media/image80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28CAF1-05C6-81CF-8886-4E1EAF6653C7}"/>
              </a:ext>
            </a:extLst>
          </p:cNvPr>
          <p:cNvSpPr txBox="1"/>
          <p:nvPr/>
        </p:nvSpPr>
        <p:spPr>
          <a:xfrm>
            <a:off x="5018569" y="1530774"/>
            <a:ext cx="71734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Hệ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Thống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Quản Lý Quyên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Góp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Từ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Thiện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B65924-F0A7-FE30-1550-57329BC2BC37}"/>
              </a:ext>
            </a:extLst>
          </p:cNvPr>
          <p:cNvSpPr txBox="1"/>
          <p:nvPr/>
        </p:nvSpPr>
        <p:spPr>
          <a:xfrm>
            <a:off x="5018569" y="3285100"/>
            <a:ext cx="7173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Đồ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án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xây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dựng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nền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tảng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minh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bạch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hóa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chiến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dịch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từ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thiện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hỗ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trợ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quyên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góp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theo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dõi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chiến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dịch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và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quản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trị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toàn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diện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dữ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liệu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7" name="img">
            <a:extLst>
              <a:ext uri="{FF2B5EF4-FFF2-40B4-BE49-F238E27FC236}">
                <a16:creationId xmlns:a16="http://schemas.microsoft.com/office/drawing/2014/main" id="{03B84833-2854-29FF-88D7-DB9E8334A85C}"/>
              </a:ext>
            </a:extLst>
          </p:cNvPr>
          <p:cNvSpPr/>
          <p:nvPr/>
        </p:nvSpPr>
        <p:spPr>
          <a:xfrm>
            <a:off x="548640" y="1144693"/>
            <a:ext cx="4016587" cy="46668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4C95E8-39CB-3828-03E9-577FC69FCE1B}"/>
              </a:ext>
            </a:extLst>
          </p:cNvPr>
          <p:cNvSpPr txBox="1"/>
          <p:nvPr/>
        </p:nvSpPr>
        <p:spPr>
          <a:xfrm>
            <a:off x="1838960" y="1610537"/>
            <a:ext cx="8514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Phạm Vi &amp;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Đối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Tượng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Sử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Dụng</a:t>
            </a:r>
            <a:endParaRPr lang="en-US" sz="4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B1A86B-3921-8B38-413C-C1685634273A}"/>
              </a:ext>
            </a:extLst>
          </p:cNvPr>
          <p:cNvGrpSpPr/>
          <p:nvPr/>
        </p:nvGrpSpPr>
        <p:grpSpPr>
          <a:xfrm>
            <a:off x="379306" y="2729653"/>
            <a:ext cx="3675888" cy="1788160"/>
            <a:chOff x="711199" y="2729653"/>
            <a:chExt cx="3095414" cy="178816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A27F0F11-70AD-5674-DCE1-D9D4F3E5988C}"/>
                </a:ext>
              </a:extLst>
            </p:cNvPr>
            <p:cNvSpPr/>
            <p:nvPr/>
          </p:nvSpPr>
          <p:spPr>
            <a:xfrm>
              <a:off x="711200" y="2729653"/>
              <a:ext cx="3095413" cy="1788160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EF79324-2F71-470B-3ED1-BDB8E7244F1F}"/>
                </a:ext>
              </a:extLst>
            </p:cNvPr>
            <p:cNvSpPr txBox="1"/>
            <p:nvPr/>
          </p:nvSpPr>
          <p:spPr>
            <a:xfrm>
              <a:off x="711199" y="2844225"/>
              <a:ext cx="30954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👤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Khách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(Guest)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99F2E35-051B-EE78-4D73-9A9CC1B4FE8B}"/>
                </a:ext>
              </a:extLst>
            </p:cNvPr>
            <p:cNvSpPr txBox="1"/>
            <p:nvPr/>
          </p:nvSpPr>
          <p:spPr>
            <a:xfrm>
              <a:off x="711199" y="3305890"/>
              <a:ext cx="30954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có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thể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thực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hiện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không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cần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login).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E67A1EE-AFDF-5636-E02A-D295BDA33794}"/>
              </a:ext>
            </a:extLst>
          </p:cNvPr>
          <p:cNvGrpSpPr/>
          <p:nvPr/>
        </p:nvGrpSpPr>
        <p:grpSpPr>
          <a:xfrm>
            <a:off x="4301065" y="2716107"/>
            <a:ext cx="3675888" cy="1788160"/>
            <a:chOff x="711199" y="2729653"/>
            <a:chExt cx="3095414" cy="178816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D9FA268-DBE3-B436-F712-69FFC4CD14E0}"/>
                </a:ext>
              </a:extLst>
            </p:cNvPr>
            <p:cNvSpPr/>
            <p:nvPr/>
          </p:nvSpPr>
          <p:spPr>
            <a:xfrm>
              <a:off x="711200" y="2729653"/>
              <a:ext cx="3095413" cy="1788160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850350-3A02-C6BC-F4E3-141401ED8657}"/>
                </a:ext>
              </a:extLst>
            </p:cNvPr>
            <p:cNvSpPr txBox="1"/>
            <p:nvPr/>
          </p:nvSpPr>
          <p:spPr>
            <a:xfrm>
              <a:off x="711199" y="2844225"/>
              <a:ext cx="309541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🙋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Thành Viên (User)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7908D7-B146-38D5-B4E8-3242B352ABF6}"/>
                </a:ext>
              </a:extLst>
            </p:cNvPr>
            <p:cNvSpPr txBox="1"/>
            <p:nvPr/>
          </p:nvSpPr>
          <p:spPr>
            <a:xfrm>
              <a:off x="711199" y="3305890"/>
              <a:ext cx="30954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Thành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hệ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thống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Có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thêm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quyền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lịch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sử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tài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khoản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  <a:endParaRPr lang="vi-V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690F5C-B276-1FC6-8E50-20655509EDE3}"/>
              </a:ext>
            </a:extLst>
          </p:cNvPr>
          <p:cNvGrpSpPr/>
          <p:nvPr/>
        </p:nvGrpSpPr>
        <p:grpSpPr>
          <a:xfrm>
            <a:off x="8222825" y="2729653"/>
            <a:ext cx="3677922" cy="1788160"/>
            <a:chOff x="128691" y="2729653"/>
            <a:chExt cx="3677922" cy="178816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8217FC6-FFF2-1269-DEF9-64D00030B655}"/>
                </a:ext>
              </a:extLst>
            </p:cNvPr>
            <p:cNvSpPr/>
            <p:nvPr/>
          </p:nvSpPr>
          <p:spPr>
            <a:xfrm>
              <a:off x="128692" y="2729653"/>
              <a:ext cx="3677921" cy="1788160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3B1BCF7-85CB-C743-FC3A-0E10EDE62A5F}"/>
                </a:ext>
              </a:extLst>
            </p:cNvPr>
            <p:cNvSpPr txBox="1"/>
            <p:nvPr/>
          </p:nvSpPr>
          <p:spPr>
            <a:xfrm>
              <a:off x="128693" y="2844225"/>
              <a:ext cx="36779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🛡️ Quản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Trị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Viên (Admin)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48D55A-6EE9-D09E-CB25-79FF7FCABFEC}"/>
                </a:ext>
              </a:extLst>
            </p:cNvPr>
            <p:cNvSpPr txBox="1"/>
            <p:nvPr/>
          </p:nvSpPr>
          <p:spPr>
            <a:xfrm>
              <a:off x="128691" y="3305890"/>
              <a:ext cx="36779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" panose="020B0004020202020204" pitchFamily="34" charset="0"/>
                </a:rPr>
                <a:t>Quản lý toàn bộ người dùng, chiến dịch, giao dịch và xác nhận donation.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0741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75726B-F5A1-A160-21E3-D734EFFF40EA}"/>
              </a:ext>
            </a:extLst>
          </p:cNvPr>
          <p:cNvSpPr txBox="1"/>
          <p:nvPr/>
        </p:nvSpPr>
        <p:spPr>
          <a:xfrm>
            <a:off x="193040" y="425203"/>
            <a:ext cx="5516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Phân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Tích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Yêu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Cầu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B80CD23-C031-2F17-2D21-3B64118E47CB}"/>
              </a:ext>
            </a:extLst>
          </p:cNvPr>
          <p:cNvGrpSpPr/>
          <p:nvPr/>
        </p:nvGrpSpPr>
        <p:grpSpPr>
          <a:xfrm>
            <a:off x="193040" y="1506813"/>
            <a:ext cx="4853093" cy="3936943"/>
            <a:chOff x="193040" y="1506813"/>
            <a:chExt cx="4853093" cy="393694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D80D481-5F74-C5DC-990A-9F950746B0A5}"/>
                </a:ext>
              </a:extLst>
            </p:cNvPr>
            <p:cNvSpPr txBox="1"/>
            <p:nvPr/>
          </p:nvSpPr>
          <p:spPr>
            <a:xfrm>
              <a:off x="193040" y="1506813"/>
              <a:ext cx="4853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Yêu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Cầu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Chức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Năng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15647FF-8AB8-F481-94B0-7AFABEB1A450}"/>
                </a:ext>
              </a:extLst>
            </p:cNvPr>
            <p:cNvSpPr txBox="1"/>
            <p:nvPr/>
          </p:nvSpPr>
          <p:spPr>
            <a:xfrm>
              <a:off x="193040" y="1998133"/>
              <a:ext cx="4853093" cy="3445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Đăng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đăng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nhập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hồ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sơ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cá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nhân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Admin – Quản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User, Campaign, Donation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521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E39E7-333D-4587-C2F9-5FD05657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3CA68-D2D8-AFD5-C8AD-C93EAD968E4A}"/>
              </a:ext>
            </a:extLst>
          </p:cNvPr>
          <p:cNvSpPr txBox="1"/>
          <p:nvPr/>
        </p:nvSpPr>
        <p:spPr>
          <a:xfrm>
            <a:off x="193040" y="425203"/>
            <a:ext cx="5516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Phân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Tích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Yêu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Cầu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CB6469D-06FC-28F2-5F37-211412D9059C}"/>
              </a:ext>
            </a:extLst>
          </p:cNvPr>
          <p:cNvGrpSpPr/>
          <p:nvPr/>
        </p:nvGrpSpPr>
        <p:grpSpPr>
          <a:xfrm>
            <a:off x="193040" y="1535035"/>
            <a:ext cx="4853093" cy="3936943"/>
            <a:chOff x="193040" y="1506813"/>
            <a:chExt cx="4853093" cy="393694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837C8E-F224-6746-D3D1-B9C9332D7BC5}"/>
                </a:ext>
              </a:extLst>
            </p:cNvPr>
            <p:cNvSpPr txBox="1"/>
            <p:nvPr/>
          </p:nvSpPr>
          <p:spPr>
            <a:xfrm>
              <a:off x="193040" y="1506813"/>
              <a:ext cx="4853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Yêu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Cầu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Phi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Chức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Năng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4323CA-F148-AE34-752C-AAB4D5DC5CEE}"/>
                </a:ext>
              </a:extLst>
            </p:cNvPr>
            <p:cNvSpPr txBox="1"/>
            <p:nvPr/>
          </p:nvSpPr>
          <p:spPr>
            <a:xfrm>
              <a:off x="193040" y="1998133"/>
              <a:ext cx="4853093" cy="3445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Bảo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khẩu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Phân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quyền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rõ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rang</a:t>
              </a: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Dữ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liệu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nhất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quán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Giao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diện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dễ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dung</a:t>
              </a: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Dễ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mở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rộng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8363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C645B-152B-17C1-F26C-1A185557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FACCC89-DECE-EA1F-C2EE-2B8F371CF6EA}"/>
              </a:ext>
            </a:extLst>
          </p:cNvPr>
          <p:cNvSpPr txBox="1"/>
          <p:nvPr/>
        </p:nvSpPr>
        <p:spPr>
          <a:xfrm>
            <a:off x="193039" y="425203"/>
            <a:ext cx="6092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Case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Tổng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Quan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1F6337-C74A-6CDD-020B-2BBD5028AF30}"/>
              </a:ext>
            </a:extLst>
          </p:cNvPr>
          <p:cNvGrpSpPr/>
          <p:nvPr/>
        </p:nvGrpSpPr>
        <p:grpSpPr>
          <a:xfrm>
            <a:off x="193040" y="1535035"/>
            <a:ext cx="4853093" cy="3936943"/>
            <a:chOff x="193040" y="1506813"/>
            <a:chExt cx="4853093" cy="393694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EB9750-6B97-42F0-436E-E5300EA92F59}"/>
                </a:ext>
              </a:extLst>
            </p:cNvPr>
            <p:cNvSpPr txBox="1"/>
            <p:nvPr/>
          </p:nvSpPr>
          <p:spPr>
            <a:xfrm>
              <a:off x="193040" y="1506813"/>
              <a:ext cx="4853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Thành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viên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&amp;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Khách</a:t>
              </a:r>
              <a:endPara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FB7A2FE-A9B4-1635-3D9F-52B70F20244E}"/>
                </a:ext>
              </a:extLst>
            </p:cNvPr>
            <p:cNvSpPr txBox="1"/>
            <p:nvPr/>
          </p:nvSpPr>
          <p:spPr>
            <a:xfrm>
              <a:off x="193040" y="1998133"/>
              <a:ext cx="4853093" cy="3445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/ chi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tiết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Đăng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đăng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nhập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Thực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hiện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Theo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dõi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 &amp;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xem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lịch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sử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hồ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sơ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cá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nhân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591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EE527-72C5-4859-7624-718EA980F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938B1A3-3E8D-0A6D-1023-DA2BC5C9EDE3}"/>
              </a:ext>
            </a:extLst>
          </p:cNvPr>
          <p:cNvSpPr txBox="1"/>
          <p:nvPr/>
        </p:nvSpPr>
        <p:spPr>
          <a:xfrm>
            <a:off x="193039" y="425203"/>
            <a:ext cx="60926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Case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Tổng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Quan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0DFA8D-8301-9552-5C2F-BE2828B0CC2B}"/>
              </a:ext>
            </a:extLst>
          </p:cNvPr>
          <p:cNvGrpSpPr/>
          <p:nvPr/>
        </p:nvGrpSpPr>
        <p:grpSpPr>
          <a:xfrm>
            <a:off x="193039" y="1402955"/>
            <a:ext cx="4853094" cy="2572269"/>
            <a:chOff x="193039" y="1506813"/>
            <a:chExt cx="4853094" cy="257226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4A51A0-B2D7-4ED8-B038-487A0D0F48CC}"/>
                </a:ext>
              </a:extLst>
            </p:cNvPr>
            <p:cNvSpPr txBox="1"/>
            <p:nvPr/>
          </p:nvSpPr>
          <p:spPr>
            <a:xfrm>
              <a:off x="193040" y="1506813"/>
              <a:ext cx="4853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trị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viên</a:t>
              </a:r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(Admin)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79B999-0A63-DC43-9F4D-E62F24E2FC3B}"/>
                </a:ext>
              </a:extLst>
            </p:cNvPr>
            <p:cNvSpPr txBox="1"/>
            <p:nvPr/>
          </p:nvSpPr>
          <p:spPr>
            <a:xfrm>
              <a:off x="193039" y="2018453"/>
              <a:ext cx="4853093" cy="20606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sách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người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dung</a:t>
              </a: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Tạo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duyệt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cập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342900" indent="-342900">
                <a:lnSpc>
                  <a:spcPct val="250000"/>
                </a:lnSpc>
                <a:buFont typeface="+mj-lt"/>
                <a:buAutoNum type="arabicPeriod"/>
              </a:pP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Xác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/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từ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chối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giao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donation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8431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529B10-05A4-C349-08E7-A95F19DA4E0C}"/>
              </a:ext>
            </a:extLst>
          </p:cNvPr>
          <p:cNvSpPr txBox="1"/>
          <p:nvPr/>
        </p:nvSpPr>
        <p:spPr>
          <a:xfrm>
            <a:off x="193039" y="425203"/>
            <a:ext cx="80230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Thiết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kế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kiến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trúc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hệ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thống</a:t>
            </a:r>
            <a:endParaRPr lang="en-US" sz="4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D91159-0B0D-36CD-2BC0-EF0C1BE45DE5}"/>
              </a:ext>
            </a:extLst>
          </p:cNvPr>
          <p:cNvSpPr txBox="1"/>
          <p:nvPr/>
        </p:nvSpPr>
        <p:spPr>
          <a:xfrm>
            <a:off x="554942" y="5828200"/>
            <a:ext cx="7424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Kiến trúc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MVC + N-Tier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phân tách rõ trách nhiệm từng lớp: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View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hiển thị giao diện,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Controller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điều phối luồng xử lý,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Service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chứa logic nghiệp vụ, </a:t>
            </a:r>
            <a:r>
              <a:rPr lang="vi-V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Repository</a:t>
            </a:r>
            <a:r>
              <a:rPr lang="vi-V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tương tác cơ sở dữ liệu.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5F847A-4FF7-0DF5-8191-480C08C0DB02}"/>
              </a:ext>
            </a:extLst>
          </p:cNvPr>
          <p:cNvGrpSpPr/>
          <p:nvPr/>
        </p:nvGrpSpPr>
        <p:grpSpPr>
          <a:xfrm>
            <a:off x="853440" y="1591733"/>
            <a:ext cx="2079413" cy="977999"/>
            <a:chOff x="853440" y="1591733"/>
            <a:chExt cx="2079413" cy="97799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B1330E-5CFD-91EA-F71B-59FF6F924B2F}"/>
                </a:ext>
              </a:extLst>
            </p:cNvPr>
            <p:cNvSpPr txBox="1"/>
            <p:nvPr/>
          </p:nvSpPr>
          <p:spPr>
            <a:xfrm>
              <a:off x="1273387" y="1591733"/>
              <a:ext cx="1659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Giao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diện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916C32-0D3E-2FA8-B0C1-4FE41E5B1758}"/>
                </a:ext>
              </a:extLst>
            </p:cNvPr>
            <p:cNvSpPr txBox="1"/>
            <p:nvPr/>
          </p:nvSpPr>
          <p:spPr>
            <a:xfrm>
              <a:off x="853440" y="1984957"/>
              <a:ext cx="20794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View JSP/JSTL 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hiển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thị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dữ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liệu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form.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F68AAD-71FD-BC29-C572-0C54579BECFD}"/>
              </a:ext>
            </a:extLst>
          </p:cNvPr>
          <p:cNvGrpSpPr/>
          <p:nvPr/>
        </p:nvGrpSpPr>
        <p:grpSpPr>
          <a:xfrm>
            <a:off x="765387" y="3176693"/>
            <a:ext cx="2079413" cy="977999"/>
            <a:chOff x="765387" y="3176693"/>
            <a:chExt cx="2079413" cy="977999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98AFFA4-03E8-900F-FA85-035048F3D6B4}"/>
                </a:ext>
              </a:extLst>
            </p:cNvPr>
            <p:cNvSpPr txBox="1"/>
            <p:nvPr/>
          </p:nvSpPr>
          <p:spPr>
            <a:xfrm>
              <a:off x="853440" y="3176693"/>
              <a:ext cx="199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Logic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nghiệp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vụ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5138E3-7995-F431-3072-193AFB40F206}"/>
                </a:ext>
              </a:extLst>
            </p:cNvPr>
            <p:cNvSpPr txBox="1"/>
            <p:nvPr/>
          </p:nvSpPr>
          <p:spPr>
            <a:xfrm>
              <a:off x="765387" y="3569917"/>
              <a:ext cx="20794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dirty="0"/>
                <a:t>Service </a:t>
              </a:r>
              <a:r>
                <a:rPr lang="en-US" sz="1600" dirty="0" err="1"/>
                <a:t>xử</a:t>
              </a:r>
              <a:r>
                <a:rPr lang="en-US" sz="1600" dirty="0"/>
                <a:t> </a:t>
              </a:r>
              <a:r>
                <a:rPr lang="en-US" sz="1600" dirty="0" err="1"/>
                <a:t>lý</a:t>
              </a:r>
              <a:r>
                <a:rPr lang="en-US" sz="1600" dirty="0"/>
                <a:t> </a:t>
              </a:r>
              <a:r>
                <a:rPr lang="en-US" sz="1600" dirty="0" err="1"/>
                <a:t>quy</a:t>
              </a:r>
              <a:r>
                <a:rPr lang="en-US" sz="1600" dirty="0"/>
                <a:t> </a:t>
              </a:r>
              <a:r>
                <a:rPr lang="en-US" sz="1600" dirty="0" err="1"/>
                <a:t>tắc</a:t>
              </a:r>
              <a:r>
                <a:rPr lang="en-US" sz="1600" dirty="0"/>
                <a:t> </a:t>
              </a:r>
              <a:r>
                <a:rPr lang="en-US" sz="1600" dirty="0" err="1"/>
                <a:t>và</a:t>
              </a:r>
              <a:r>
                <a:rPr lang="en-US" sz="1600" dirty="0"/>
                <a:t> </a:t>
              </a:r>
              <a:r>
                <a:rPr lang="en-US" sz="1600" dirty="0" err="1"/>
                <a:t>giao</a:t>
              </a:r>
              <a:r>
                <a:rPr lang="en-US" sz="1600" dirty="0"/>
                <a:t> </a:t>
              </a:r>
              <a:r>
                <a:rPr lang="en-US" sz="1600" dirty="0" err="1"/>
                <a:t>dịch</a:t>
              </a:r>
              <a:endParaRPr lang="en-US" sz="16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8F149A4-A925-9089-1A76-41721388895F}"/>
              </a:ext>
            </a:extLst>
          </p:cNvPr>
          <p:cNvGrpSpPr/>
          <p:nvPr/>
        </p:nvGrpSpPr>
        <p:grpSpPr>
          <a:xfrm>
            <a:off x="8453120" y="2120053"/>
            <a:ext cx="2560320" cy="954107"/>
            <a:chOff x="8453120" y="2120053"/>
            <a:chExt cx="2560320" cy="95410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F89DC1-B305-B7EC-3CFB-766F28A5E7FC}"/>
                </a:ext>
              </a:extLst>
            </p:cNvPr>
            <p:cNvSpPr txBox="1"/>
            <p:nvPr/>
          </p:nvSpPr>
          <p:spPr>
            <a:xfrm>
              <a:off x="8453120" y="2120053"/>
              <a:ext cx="199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Điều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phối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5901C5C-FF44-88E1-7957-75AE7CB01D28}"/>
                </a:ext>
              </a:extLst>
            </p:cNvPr>
            <p:cNvSpPr txBox="1"/>
            <p:nvPr/>
          </p:nvSpPr>
          <p:spPr>
            <a:xfrm>
              <a:off x="8453120" y="2489385"/>
              <a:ext cx="25603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Controller Spring MVC </a:t>
              </a:r>
              <a:r>
                <a:rPr lang="en-US" sz="1600" dirty="0" err="1"/>
                <a:t>xử</a:t>
              </a:r>
              <a:r>
                <a:rPr lang="en-US" sz="1600" dirty="0"/>
                <a:t> </a:t>
              </a:r>
              <a:r>
                <a:rPr lang="en-US" sz="1600" dirty="0" err="1"/>
                <a:t>lý</a:t>
              </a:r>
              <a:r>
                <a:rPr lang="en-US" sz="1600" dirty="0"/>
                <a:t> </a:t>
              </a:r>
              <a:r>
                <a:rPr lang="en-US" sz="1600" dirty="0" err="1"/>
                <a:t>yêu</a:t>
              </a:r>
              <a:r>
                <a:rPr lang="en-US" sz="1600" dirty="0"/>
                <a:t> </a:t>
              </a:r>
              <a:r>
                <a:rPr lang="en-US" sz="1600" dirty="0" err="1"/>
                <a:t>cầu</a:t>
              </a:r>
              <a:r>
                <a:rPr lang="en-US" sz="1600" dirty="0"/>
                <a:t> </a:t>
              </a:r>
              <a:r>
                <a:rPr lang="en-US" sz="1600" dirty="0" err="1"/>
                <a:t>và</a:t>
              </a:r>
              <a:r>
                <a:rPr lang="en-US" sz="1600" dirty="0"/>
                <a:t> routing.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E82A6EC-8DC1-4716-CEAB-D67CF5397057}"/>
              </a:ext>
            </a:extLst>
          </p:cNvPr>
          <p:cNvGrpSpPr/>
          <p:nvPr/>
        </p:nvGrpSpPr>
        <p:grpSpPr>
          <a:xfrm>
            <a:off x="8629227" y="3867573"/>
            <a:ext cx="2560320" cy="954107"/>
            <a:chOff x="8629227" y="3867573"/>
            <a:chExt cx="2560320" cy="95410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F07497-2BA2-5494-F7CA-B6EE25E07D4E}"/>
                </a:ext>
              </a:extLst>
            </p:cNvPr>
            <p:cNvSpPr txBox="1"/>
            <p:nvPr/>
          </p:nvSpPr>
          <p:spPr>
            <a:xfrm>
              <a:off x="8629227" y="3867573"/>
              <a:ext cx="1991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Kho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dữ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liệu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4EE8E9D-4839-8C66-A5C5-FE713F731F55}"/>
                </a:ext>
              </a:extLst>
            </p:cNvPr>
            <p:cNvSpPr txBox="1"/>
            <p:nvPr/>
          </p:nvSpPr>
          <p:spPr>
            <a:xfrm>
              <a:off x="8629227" y="4236905"/>
              <a:ext cx="25603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600" dirty="0"/>
                <a:t>Repository JPA kết nối MySQL lưu trữ.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2442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BC516-070F-4A57-702E-92B3289C7375}"/>
              </a:ext>
            </a:extLst>
          </p:cNvPr>
          <p:cNvSpPr txBox="1"/>
          <p:nvPr/>
        </p:nvSpPr>
        <p:spPr>
          <a:xfrm>
            <a:off x="4947050" y="852227"/>
            <a:ext cx="5957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Công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nghệ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sử</a:t>
            </a:r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dụng</a:t>
            </a:r>
            <a:endParaRPr lang="en-US" sz="4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D239EA-3927-AE36-CD00-5539688D020C}"/>
              </a:ext>
            </a:extLst>
          </p:cNvPr>
          <p:cNvGrpSpPr/>
          <p:nvPr/>
        </p:nvGrpSpPr>
        <p:grpSpPr>
          <a:xfrm>
            <a:off x="5087550" y="1954786"/>
            <a:ext cx="3125466" cy="1499660"/>
            <a:chOff x="711200" y="2729653"/>
            <a:chExt cx="2631911" cy="149966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6CAD4D6-24B0-1478-B9D6-D0F2277D07F9}"/>
                </a:ext>
              </a:extLst>
            </p:cNvPr>
            <p:cNvSpPr/>
            <p:nvPr/>
          </p:nvSpPr>
          <p:spPr>
            <a:xfrm>
              <a:off x="711200" y="2729653"/>
              <a:ext cx="2631910" cy="1499660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D42028-3307-BC08-B41D-0C8C6ED5F254}"/>
                </a:ext>
              </a:extLst>
            </p:cNvPr>
            <p:cNvSpPr txBox="1"/>
            <p:nvPr/>
          </p:nvSpPr>
          <p:spPr>
            <a:xfrm>
              <a:off x="711200" y="2844225"/>
              <a:ext cx="2631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☕ Backend Core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C061474-4CAB-29AA-A202-B93677D5B3A5}"/>
                </a:ext>
              </a:extLst>
            </p:cNvPr>
            <p:cNvSpPr txBox="1"/>
            <p:nvPr/>
          </p:nvSpPr>
          <p:spPr>
            <a:xfrm>
              <a:off x="711200" y="3305890"/>
              <a:ext cx="263191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Java 17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+ Spring Boot, Spring MVC, Spring Data JPA / Hibernate, MySQL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B3A247E-9775-587F-1C70-41422D8E3D69}"/>
              </a:ext>
            </a:extLst>
          </p:cNvPr>
          <p:cNvGrpSpPr/>
          <p:nvPr/>
        </p:nvGrpSpPr>
        <p:grpSpPr>
          <a:xfrm>
            <a:off x="8610599" y="1920218"/>
            <a:ext cx="2920661" cy="1552786"/>
            <a:chOff x="711199" y="2729653"/>
            <a:chExt cx="2459447" cy="155278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6B1C8E5-6DBB-21C6-014D-900958FFA271}"/>
                </a:ext>
              </a:extLst>
            </p:cNvPr>
            <p:cNvSpPr/>
            <p:nvPr/>
          </p:nvSpPr>
          <p:spPr>
            <a:xfrm>
              <a:off x="711200" y="2729653"/>
              <a:ext cx="2459446" cy="1552786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814C5E-AA24-84C6-0F76-084D72921736}"/>
                </a:ext>
              </a:extLst>
            </p:cNvPr>
            <p:cNvSpPr txBox="1"/>
            <p:nvPr/>
          </p:nvSpPr>
          <p:spPr>
            <a:xfrm>
              <a:off x="711199" y="2844225"/>
              <a:ext cx="24594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🔐 Bảo </a:t>
              </a:r>
              <a:r>
                <a:rPr lang="en-US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endPara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BE900F-8FB9-B91C-A11B-8EA65E080604}"/>
                </a:ext>
              </a:extLst>
            </p:cNvPr>
            <p:cNvSpPr txBox="1"/>
            <p:nvPr/>
          </p:nvSpPr>
          <p:spPr>
            <a:xfrm>
              <a:off x="711200" y="3305890"/>
              <a:ext cx="245944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Spring Security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+ OAuth2 (Google Login) +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BCrypt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mã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hóa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khẩu</a:t>
              </a:r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DF9F3C-6BB4-8E34-1F93-A32A0AB266CB}"/>
              </a:ext>
            </a:extLst>
          </p:cNvPr>
          <p:cNvGrpSpPr/>
          <p:nvPr/>
        </p:nvGrpSpPr>
        <p:grpSpPr>
          <a:xfrm>
            <a:off x="4947050" y="3679842"/>
            <a:ext cx="6756400" cy="1222568"/>
            <a:chOff x="-856185" y="2729654"/>
            <a:chExt cx="4662798" cy="122256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C9C8789-B596-7C26-0235-D2D27326B522}"/>
                </a:ext>
              </a:extLst>
            </p:cNvPr>
            <p:cNvSpPr/>
            <p:nvPr/>
          </p:nvSpPr>
          <p:spPr>
            <a:xfrm>
              <a:off x="-856185" y="2729654"/>
              <a:ext cx="4662798" cy="1222568"/>
            </a:xfrm>
            <a:prstGeom prst="roundRect">
              <a:avLst/>
            </a:prstGeom>
            <a:solidFill>
              <a:srgbClr val="8EDEC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2742AC4-C280-3E7C-E384-D7ECECA11A13}"/>
                </a:ext>
              </a:extLst>
            </p:cNvPr>
            <p:cNvSpPr txBox="1"/>
            <p:nvPr/>
          </p:nvSpPr>
          <p:spPr>
            <a:xfrm>
              <a:off x="-759222" y="2844225"/>
              <a:ext cx="2060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🖥️ Frontend &amp; Build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3314E2-0FA7-DB62-65D5-AC96243BA875}"/>
                </a:ext>
              </a:extLst>
            </p:cNvPr>
            <p:cNvSpPr txBox="1"/>
            <p:nvPr/>
          </p:nvSpPr>
          <p:spPr>
            <a:xfrm>
              <a:off x="-759221" y="3305890"/>
              <a:ext cx="45658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JSP / JSTL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giao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diện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động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Maven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phụ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thuộc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build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57BD769-F71B-47CA-15B0-954661768224}"/>
              </a:ext>
            </a:extLst>
          </p:cNvPr>
          <p:cNvGrpSpPr/>
          <p:nvPr/>
        </p:nvGrpSpPr>
        <p:grpSpPr>
          <a:xfrm>
            <a:off x="4974143" y="5034508"/>
            <a:ext cx="6756400" cy="1222568"/>
            <a:chOff x="-856185" y="2729654"/>
            <a:chExt cx="4662798" cy="122256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59A02D1-C3ED-2B3A-2DB6-F704F16D99B9}"/>
                </a:ext>
              </a:extLst>
            </p:cNvPr>
            <p:cNvSpPr/>
            <p:nvPr/>
          </p:nvSpPr>
          <p:spPr>
            <a:xfrm>
              <a:off x="-856185" y="2729654"/>
              <a:ext cx="4662798" cy="1222568"/>
            </a:xfrm>
            <a:prstGeom prst="roundRect">
              <a:avLst/>
            </a:prstGeom>
            <a:solidFill>
              <a:srgbClr val="CCF0E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3E2040D-0086-3ADD-C84A-A78019693F80}"/>
                </a:ext>
              </a:extLst>
            </p:cNvPr>
            <p:cNvSpPr txBox="1"/>
            <p:nvPr/>
          </p:nvSpPr>
          <p:spPr>
            <a:xfrm>
              <a:off x="-451241" y="2874961"/>
              <a:ext cx="420937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 do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chọn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Spring Boot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phép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phát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triển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nhanh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có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cộng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đồng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lớn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dễ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tích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hợp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bảo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mật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ORM —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phù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hợp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cho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hệ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thống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dữ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liệu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phức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tạp</a:t>
              </a:r>
              <a:r>
                <a: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</a:t>
              </a:r>
            </a:p>
          </p:txBody>
        </p:sp>
      </p:grpSp>
      <p:pic>
        <p:nvPicPr>
          <p:cNvPr id="21" name="Graphic 20" descr="Postit Notes 3 with solid fill">
            <a:extLst>
              <a:ext uri="{FF2B5EF4-FFF2-40B4-BE49-F238E27FC236}">
                <a16:creationId xmlns:a16="http://schemas.microsoft.com/office/drawing/2014/main" id="{CB1DC65B-24BD-27EA-8BE2-9579BCC6B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32793" y="5179815"/>
            <a:ext cx="275629" cy="27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4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9B3942-7D61-985C-00B2-123ED565FFC0}"/>
              </a:ext>
            </a:extLst>
          </p:cNvPr>
          <p:cNvSpPr txBox="1"/>
          <p:nvPr/>
        </p:nvSpPr>
        <p:spPr>
          <a:xfrm>
            <a:off x="426720" y="1776733"/>
            <a:ext cx="3878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Thiết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kế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cơ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sở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dữ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liệu</a:t>
            </a:r>
            <a:endParaRPr lang="en-US" sz="5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F034D-B2C5-FDA7-A69F-4166FC5D9081}"/>
              </a:ext>
            </a:extLst>
          </p:cNvPr>
          <p:cNvSpPr txBox="1"/>
          <p:nvPr/>
        </p:nvSpPr>
        <p:spPr>
          <a:xfrm>
            <a:off x="1333500" y="3912059"/>
            <a:ext cx="2065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Mô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hình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47546B-34CB-EF0D-0D4C-49F880191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971" y="0"/>
            <a:ext cx="6913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96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A95C-AED8-E07B-D228-831E4A8D2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CF8C2-A996-0D0B-41C2-297B0E92D17F}"/>
              </a:ext>
            </a:extLst>
          </p:cNvPr>
          <p:cNvSpPr txBox="1"/>
          <p:nvPr/>
        </p:nvSpPr>
        <p:spPr>
          <a:xfrm>
            <a:off x="426720" y="322583"/>
            <a:ext cx="3878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Thiết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kế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cơ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sở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dữ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5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liệu</a:t>
            </a:r>
            <a:endParaRPr lang="en-US" sz="5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46815F-84F6-ADFF-990A-AB8DBB7C4F3D}"/>
              </a:ext>
            </a:extLst>
          </p:cNvPr>
          <p:cNvSpPr txBox="1"/>
          <p:nvPr/>
        </p:nvSpPr>
        <p:spPr>
          <a:xfrm>
            <a:off x="426720" y="2210228"/>
            <a:ext cx="2697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Các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bảng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chính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7805651-0933-0748-EA43-583D998CD59A}"/>
              </a:ext>
            </a:extLst>
          </p:cNvPr>
          <p:cNvGrpSpPr/>
          <p:nvPr/>
        </p:nvGrpSpPr>
        <p:grpSpPr>
          <a:xfrm>
            <a:off x="288924" y="3009185"/>
            <a:ext cx="2181225" cy="839629"/>
            <a:chOff x="492124" y="4470400"/>
            <a:chExt cx="2181225" cy="83962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148AB20-73F3-7DD1-8E69-31A78762434E}"/>
                </a:ext>
              </a:extLst>
            </p:cNvPr>
            <p:cNvGrpSpPr/>
            <p:nvPr/>
          </p:nvGrpSpPr>
          <p:grpSpPr>
            <a:xfrm>
              <a:off x="492124" y="4470400"/>
              <a:ext cx="2181225" cy="839629"/>
              <a:chOff x="2333624" y="3429000"/>
              <a:chExt cx="2181225" cy="83962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B614A0C-260B-52A0-948A-3F6EFF8DCCC2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181225" cy="839629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832D41E0-6820-F866-F5AB-27020954E443}"/>
                  </a:ext>
                </a:extLst>
              </p:cNvPr>
              <p:cNvSpPr/>
              <p:nvPr/>
            </p:nvSpPr>
            <p:spPr>
              <a:xfrm>
                <a:off x="2465831" y="3459955"/>
                <a:ext cx="2029968" cy="785813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A92BDE-FF37-D126-3FC1-526804B8D214}"/>
                </a:ext>
              </a:extLst>
            </p:cNvPr>
            <p:cNvSpPr txBox="1"/>
            <p:nvPr/>
          </p:nvSpPr>
          <p:spPr>
            <a:xfrm>
              <a:off x="621346" y="4567048"/>
              <a:ext cx="203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users</a:t>
              </a:r>
              <a:r>
                <a:rPr lang="vi-VN" dirty="0"/>
                <a:t> — thông tin người dùng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C57819-1BF4-DB7C-A833-6C393D0E73CD}"/>
              </a:ext>
            </a:extLst>
          </p:cNvPr>
          <p:cNvGrpSpPr/>
          <p:nvPr/>
        </p:nvGrpSpPr>
        <p:grpSpPr>
          <a:xfrm>
            <a:off x="2892108" y="3020404"/>
            <a:ext cx="2181225" cy="839629"/>
            <a:chOff x="492124" y="4470400"/>
            <a:chExt cx="2181225" cy="83962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0CD3121-2B99-6B2B-7705-383F0B49A296}"/>
                </a:ext>
              </a:extLst>
            </p:cNvPr>
            <p:cNvGrpSpPr/>
            <p:nvPr/>
          </p:nvGrpSpPr>
          <p:grpSpPr>
            <a:xfrm>
              <a:off x="492124" y="4470400"/>
              <a:ext cx="2181225" cy="839629"/>
              <a:chOff x="2333624" y="3429000"/>
              <a:chExt cx="2181225" cy="839629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E8923B3F-8460-2AC2-3A6E-79441C94E061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181225" cy="839629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158A04D-91B2-5DAA-DACD-EF542F36A2D1}"/>
                  </a:ext>
                </a:extLst>
              </p:cNvPr>
              <p:cNvSpPr/>
              <p:nvPr/>
            </p:nvSpPr>
            <p:spPr>
              <a:xfrm>
                <a:off x="2465831" y="3459955"/>
                <a:ext cx="2029968" cy="785813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1AA0AB-ADB9-2070-7F7C-10C4E1555ED7}"/>
                </a:ext>
              </a:extLst>
            </p:cNvPr>
            <p:cNvSpPr txBox="1"/>
            <p:nvPr/>
          </p:nvSpPr>
          <p:spPr>
            <a:xfrm>
              <a:off x="621346" y="4567048"/>
              <a:ext cx="203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roles</a:t>
              </a:r>
              <a:r>
                <a:rPr lang="en-US" dirty="0"/>
                <a:t> — </a:t>
              </a:r>
              <a:r>
                <a:rPr lang="en-US" dirty="0" err="1"/>
                <a:t>phân</a:t>
              </a:r>
              <a:r>
                <a:rPr lang="en-US" dirty="0"/>
                <a:t> </a:t>
              </a:r>
              <a:r>
                <a:rPr lang="en-US" dirty="0" err="1"/>
                <a:t>quyền</a:t>
              </a:r>
              <a:r>
                <a:rPr lang="en-US" dirty="0"/>
                <a:t> </a:t>
              </a:r>
              <a:r>
                <a:rPr lang="en-US" dirty="0" err="1"/>
                <a:t>vai</a:t>
              </a:r>
              <a:r>
                <a:rPr lang="en-US" dirty="0"/>
                <a:t> </a:t>
              </a:r>
              <a:r>
                <a:rPr lang="en-US" dirty="0" err="1"/>
                <a:t>trò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4C3957-2835-F37F-841C-0F89A1D100DE}"/>
              </a:ext>
            </a:extLst>
          </p:cNvPr>
          <p:cNvGrpSpPr/>
          <p:nvPr/>
        </p:nvGrpSpPr>
        <p:grpSpPr>
          <a:xfrm>
            <a:off x="269874" y="3945462"/>
            <a:ext cx="2181225" cy="839629"/>
            <a:chOff x="492124" y="4470400"/>
            <a:chExt cx="2181225" cy="83962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29F1B20-7929-008F-921E-E5711226B006}"/>
                </a:ext>
              </a:extLst>
            </p:cNvPr>
            <p:cNvGrpSpPr/>
            <p:nvPr/>
          </p:nvGrpSpPr>
          <p:grpSpPr>
            <a:xfrm>
              <a:off x="492124" y="4470400"/>
              <a:ext cx="2181225" cy="839629"/>
              <a:chOff x="2333624" y="3429000"/>
              <a:chExt cx="2181225" cy="839629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560C967A-D642-2474-71DD-40169F797EC5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181225" cy="839629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723B3F00-FDD9-C318-CBA1-96133FC6B485}"/>
                  </a:ext>
                </a:extLst>
              </p:cNvPr>
              <p:cNvSpPr/>
              <p:nvPr/>
            </p:nvSpPr>
            <p:spPr>
              <a:xfrm>
                <a:off x="2465831" y="3459955"/>
                <a:ext cx="2029968" cy="785813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777BBBE-9C7D-EFEC-60CB-D5DD576D0F52}"/>
                </a:ext>
              </a:extLst>
            </p:cNvPr>
            <p:cNvSpPr txBox="1"/>
            <p:nvPr/>
          </p:nvSpPr>
          <p:spPr>
            <a:xfrm>
              <a:off x="621346" y="4567048"/>
              <a:ext cx="203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campaigns</a:t>
              </a:r>
              <a:r>
                <a:rPr lang="en-US" dirty="0"/>
                <a:t> — </a:t>
              </a:r>
              <a:r>
                <a:rPr lang="en-US" dirty="0" err="1"/>
                <a:t>chiến</a:t>
              </a:r>
              <a:r>
                <a:rPr lang="en-US" dirty="0"/>
                <a:t> </a:t>
              </a:r>
              <a:r>
                <a:rPr lang="en-US" dirty="0" err="1"/>
                <a:t>dịch</a:t>
              </a:r>
              <a:r>
                <a:rPr lang="en-US" dirty="0"/>
                <a:t> </a:t>
              </a:r>
              <a:r>
                <a:rPr lang="en-US" dirty="0" err="1"/>
                <a:t>từ</a:t>
              </a:r>
              <a:r>
                <a:rPr lang="en-US" dirty="0"/>
                <a:t> </a:t>
              </a:r>
              <a:r>
                <a:rPr lang="en-US" dirty="0" err="1"/>
                <a:t>thiện</a:t>
              </a:r>
              <a:endParaRPr lang="en-US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2D03C4-ABF6-1196-6414-29357B003C44}"/>
              </a:ext>
            </a:extLst>
          </p:cNvPr>
          <p:cNvGrpSpPr/>
          <p:nvPr/>
        </p:nvGrpSpPr>
        <p:grpSpPr>
          <a:xfrm>
            <a:off x="2892108" y="3993352"/>
            <a:ext cx="2181225" cy="839629"/>
            <a:chOff x="492124" y="4470400"/>
            <a:chExt cx="2181225" cy="83962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8CB15E-3471-B4FA-D393-772A3DD6A3DB}"/>
                </a:ext>
              </a:extLst>
            </p:cNvPr>
            <p:cNvGrpSpPr/>
            <p:nvPr/>
          </p:nvGrpSpPr>
          <p:grpSpPr>
            <a:xfrm>
              <a:off x="492124" y="4470400"/>
              <a:ext cx="2181225" cy="839629"/>
              <a:chOff x="2333624" y="3429000"/>
              <a:chExt cx="2181225" cy="839629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680AE81-E3FE-BC2F-7827-AEF21D1D21FB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181225" cy="839629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0415C3C6-8097-4EAD-2F66-42DADEF509B0}"/>
                  </a:ext>
                </a:extLst>
              </p:cNvPr>
              <p:cNvSpPr/>
              <p:nvPr/>
            </p:nvSpPr>
            <p:spPr>
              <a:xfrm>
                <a:off x="2465831" y="3459955"/>
                <a:ext cx="2029968" cy="785813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01276F-9082-46AE-42C9-AAAB5313655F}"/>
                </a:ext>
              </a:extLst>
            </p:cNvPr>
            <p:cNvSpPr txBox="1"/>
            <p:nvPr/>
          </p:nvSpPr>
          <p:spPr>
            <a:xfrm>
              <a:off x="621346" y="4567048"/>
              <a:ext cx="2032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donations</a:t>
              </a:r>
              <a:r>
                <a:rPr lang="en-US" dirty="0"/>
                <a:t> — </a:t>
              </a:r>
              <a:r>
                <a:rPr lang="en-US" dirty="0" err="1"/>
                <a:t>giao</a:t>
              </a:r>
              <a:r>
                <a:rPr lang="en-US" dirty="0"/>
                <a:t> </a:t>
              </a:r>
              <a:r>
                <a:rPr lang="en-US" dirty="0" err="1"/>
                <a:t>dịch</a:t>
              </a:r>
              <a:r>
                <a:rPr lang="en-US" dirty="0"/>
                <a:t> </a:t>
              </a:r>
              <a:r>
                <a:rPr lang="en-US" dirty="0" err="1"/>
                <a:t>quyên</a:t>
              </a:r>
              <a:r>
                <a:rPr lang="en-US" dirty="0"/>
                <a:t> </a:t>
              </a:r>
              <a:r>
                <a:rPr lang="en-US" dirty="0" err="1"/>
                <a:t>góp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C6D0001-112B-BB17-1917-7C17123B8BC9}"/>
              </a:ext>
            </a:extLst>
          </p:cNvPr>
          <p:cNvGrpSpPr/>
          <p:nvPr/>
        </p:nvGrpSpPr>
        <p:grpSpPr>
          <a:xfrm>
            <a:off x="288924" y="4949365"/>
            <a:ext cx="2365534" cy="954285"/>
            <a:chOff x="492124" y="4470400"/>
            <a:chExt cx="2365534" cy="95428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19B08B6-4481-60F6-3015-AC8999A31D4B}"/>
                </a:ext>
              </a:extLst>
            </p:cNvPr>
            <p:cNvGrpSpPr/>
            <p:nvPr/>
          </p:nvGrpSpPr>
          <p:grpSpPr>
            <a:xfrm>
              <a:off x="492124" y="4470400"/>
              <a:ext cx="2310447" cy="941991"/>
              <a:chOff x="2333624" y="3429000"/>
              <a:chExt cx="2310447" cy="941991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D8F92781-A79A-30F7-65F0-F9159217A4DB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310447" cy="941991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B7406263-D70F-6D12-FA78-305AF1ED3ED4}"/>
                  </a:ext>
                </a:extLst>
              </p:cNvPr>
              <p:cNvSpPr/>
              <p:nvPr/>
            </p:nvSpPr>
            <p:spPr>
              <a:xfrm>
                <a:off x="2465830" y="3459955"/>
                <a:ext cx="2157447" cy="882461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113BA6E-CA8F-26B1-C7E8-84CE5E70CA72}"/>
                </a:ext>
              </a:extLst>
            </p:cNvPr>
            <p:cNvSpPr txBox="1"/>
            <p:nvPr/>
          </p:nvSpPr>
          <p:spPr>
            <a:xfrm>
              <a:off x="676433" y="4501355"/>
              <a:ext cx="21812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payment_methods</a:t>
              </a:r>
              <a:r>
                <a:rPr lang="en-US" dirty="0"/>
                <a:t> — </a:t>
              </a:r>
              <a:r>
                <a:rPr lang="en-US" dirty="0" err="1"/>
                <a:t>phương</a:t>
              </a:r>
              <a:r>
                <a:rPr lang="en-US" dirty="0"/>
                <a:t> </a:t>
              </a:r>
              <a:r>
                <a:rPr lang="en-US" dirty="0" err="1"/>
                <a:t>thức</a:t>
              </a:r>
              <a:r>
                <a:rPr lang="en-US" dirty="0"/>
                <a:t> </a:t>
              </a:r>
              <a:r>
                <a:rPr lang="en-US" dirty="0" err="1"/>
                <a:t>thanh</a:t>
              </a:r>
              <a:r>
                <a:rPr lang="en-US" dirty="0"/>
                <a:t> </a:t>
              </a:r>
              <a:r>
                <a:rPr lang="en-US" dirty="0" err="1"/>
                <a:t>toán</a:t>
              </a:r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D4DF68E-F55B-40EC-5EFA-4E0B7335CC8F}"/>
              </a:ext>
            </a:extLst>
          </p:cNvPr>
          <p:cNvGrpSpPr/>
          <p:nvPr/>
        </p:nvGrpSpPr>
        <p:grpSpPr>
          <a:xfrm>
            <a:off x="2783680" y="4949365"/>
            <a:ext cx="2365534" cy="941991"/>
            <a:chOff x="492124" y="4470400"/>
            <a:chExt cx="2365534" cy="94199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9E7A975-694A-641F-ACC4-82BBCD3E223C}"/>
                </a:ext>
              </a:extLst>
            </p:cNvPr>
            <p:cNvGrpSpPr/>
            <p:nvPr/>
          </p:nvGrpSpPr>
          <p:grpSpPr>
            <a:xfrm>
              <a:off x="492124" y="4470400"/>
              <a:ext cx="2310447" cy="941991"/>
              <a:chOff x="2333624" y="3429000"/>
              <a:chExt cx="2310447" cy="941991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6838925C-43FB-A169-ECCF-596B113B7C05}"/>
                  </a:ext>
                </a:extLst>
              </p:cNvPr>
              <p:cNvSpPr/>
              <p:nvPr/>
            </p:nvSpPr>
            <p:spPr>
              <a:xfrm>
                <a:off x="2333624" y="3429000"/>
                <a:ext cx="2310447" cy="941991"/>
              </a:xfrm>
              <a:prstGeom prst="roundRect">
                <a:avLst/>
              </a:prstGeom>
              <a:solidFill>
                <a:srgbClr val="8EDEC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C058F9C2-F4C8-3A5B-370B-56BA7F30749D}"/>
                  </a:ext>
                </a:extLst>
              </p:cNvPr>
              <p:cNvSpPr/>
              <p:nvPr/>
            </p:nvSpPr>
            <p:spPr>
              <a:xfrm>
                <a:off x="2465830" y="3459955"/>
                <a:ext cx="2157447" cy="882461"/>
              </a:xfrm>
              <a:prstGeom prst="roundRect">
                <a:avLst/>
              </a:prstGeom>
              <a:solidFill>
                <a:srgbClr val="CCF0E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1EDF4F-4713-4D3B-F642-5F366770D1E2}"/>
                </a:ext>
              </a:extLst>
            </p:cNvPr>
            <p:cNvSpPr txBox="1"/>
            <p:nvPr/>
          </p:nvSpPr>
          <p:spPr>
            <a:xfrm>
              <a:off x="676433" y="4501355"/>
              <a:ext cx="21812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user_following</a:t>
              </a:r>
              <a:r>
                <a:rPr lang="en-US" dirty="0"/>
                <a:t> — </a:t>
              </a:r>
              <a:r>
                <a:rPr lang="en-US" dirty="0" err="1"/>
                <a:t>theo</a:t>
              </a:r>
              <a:r>
                <a:rPr lang="en-US" dirty="0"/>
                <a:t> </a:t>
              </a:r>
              <a:r>
                <a:rPr lang="en-US" dirty="0" err="1"/>
                <a:t>dõi</a:t>
              </a:r>
              <a:r>
                <a:rPr lang="en-US" dirty="0"/>
                <a:t> </a:t>
              </a:r>
              <a:r>
                <a:rPr lang="en-US" dirty="0" err="1"/>
                <a:t>chiến</a:t>
              </a:r>
              <a:r>
                <a:rPr lang="en-US" dirty="0"/>
                <a:t> </a:t>
              </a:r>
              <a:r>
                <a:rPr lang="en-US" dirty="0" err="1"/>
                <a:t>dịch</a:t>
              </a:r>
              <a:endParaRPr lang="en-US" dirty="0"/>
            </a:p>
          </p:txBody>
        </p: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73DDC5A4-F266-4F7B-C02C-CFC017B6A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173" y="1098002"/>
            <a:ext cx="4001058" cy="331516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5ACC724-85C4-621A-1102-4E9EA53BF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015" y="3421698"/>
            <a:ext cx="3391373" cy="131463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E290B27-912C-2DA2-FC25-73CBC3E50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5023" y="1576129"/>
            <a:ext cx="3781953" cy="370574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37A5D617-8DF9-954D-2734-71BF197CE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283" y="1887516"/>
            <a:ext cx="5430008" cy="309605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24694E82-4CF6-6EBF-D263-0B976D3EF8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680" y="2347761"/>
            <a:ext cx="5296639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0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44BDA8-5F1B-1020-3F67-4A54DAC8E4BA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Thiết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kế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chức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năng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chính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AC5AF3B-A95C-8ED0-1FA1-B078408A3CE7}"/>
              </a:ext>
            </a:extLst>
          </p:cNvPr>
          <p:cNvGrpSpPr/>
          <p:nvPr/>
        </p:nvGrpSpPr>
        <p:grpSpPr>
          <a:xfrm>
            <a:off x="660400" y="2305050"/>
            <a:ext cx="1998133" cy="1853259"/>
            <a:chOff x="660400" y="2305050"/>
            <a:chExt cx="1998133" cy="1853259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4" name="Slide Zoom 3">
                  <a:extLst>
                    <a:ext uri="{FF2B5EF4-FFF2-40B4-BE49-F238E27FC236}">
                      <a16:creationId xmlns:a16="http://schemas.microsoft.com/office/drawing/2014/main" id="{D2E428B5-A8A5-B6ED-9F05-82A8BAA7EC5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6368839"/>
                    </p:ext>
                  </p:extLst>
                </p:nvPr>
              </p:nvGraphicFramePr>
              <p:xfrm>
                <a:off x="66040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2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4" name="Slide Zoom 3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D2E428B5-A8A5-B6ED-9F05-82A8BAA7EC59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0400" y="230505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E245994-79D8-4253-6C75-165B512946EB}"/>
                </a:ext>
              </a:extLst>
            </p:cNvPr>
            <p:cNvSpPr txBox="1"/>
            <p:nvPr/>
          </p:nvSpPr>
          <p:spPr>
            <a:xfrm>
              <a:off x="660400" y="3511978"/>
              <a:ext cx="1998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Xác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Thực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&amp; Tài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Khoản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0E8337B-3745-5077-9F11-666562B7E6CE}"/>
              </a:ext>
            </a:extLst>
          </p:cNvPr>
          <p:cNvGrpSpPr/>
          <p:nvPr/>
        </p:nvGrpSpPr>
        <p:grpSpPr>
          <a:xfrm>
            <a:off x="3028950" y="2305050"/>
            <a:ext cx="1998133" cy="1853259"/>
            <a:chOff x="3028950" y="2305050"/>
            <a:chExt cx="1998133" cy="1853259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7" name="Slide Zoom 6">
                  <a:extLst>
                    <a:ext uri="{FF2B5EF4-FFF2-40B4-BE49-F238E27FC236}">
                      <a16:creationId xmlns:a16="http://schemas.microsoft.com/office/drawing/2014/main" id="{36DEDA8E-F971-E700-D414-CAC236F0727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216462688"/>
                    </p:ext>
                  </p:extLst>
                </p:nvPr>
              </p:nvGraphicFramePr>
              <p:xfrm>
                <a:off x="302895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5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7" name="Slide Zoom 6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36DEDA8E-F971-E700-D414-CAC236F0727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28950" y="230505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A6546E-CF56-163F-5DBC-8741B83EC727}"/>
                </a:ext>
              </a:extLst>
            </p:cNvPr>
            <p:cNvSpPr txBox="1"/>
            <p:nvPr/>
          </p:nvSpPr>
          <p:spPr>
            <a:xfrm>
              <a:off x="3028950" y="3511978"/>
              <a:ext cx="1998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Lý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Chiến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Dịch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3AFE8DC-D9A4-1B6E-F148-711CA892805C}"/>
              </a:ext>
            </a:extLst>
          </p:cNvPr>
          <p:cNvGrpSpPr/>
          <p:nvPr/>
        </p:nvGrpSpPr>
        <p:grpSpPr>
          <a:xfrm>
            <a:off x="5568950" y="2305050"/>
            <a:ext cx="1998133" cy="1853259"/>
            <a:chOff x="3028950" y="2305050"/>
            <a:chExt cx="1998133" cy="1853259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2" name="Slide Zoom 11">
                  <a:extLst>
                    <a:ext uri="{FF2B5EF4-FFF2-40B4-BE49-F238E27FC236}">
                      <a16:creationId xmlns:a16="http://schemas.microsoft.com/office/drawing/2014/main" id="{35CA66DC-5CF7-05D1-07D3-094320219C1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57666483"/>
                    </p:ext>
                  </p:extLst>
                </p:nvPr>
              </p:nvGraphicFramePr>
              <p:xfrm>
                <a:off x="302895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7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2" name="Slide Zoom 11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35CA66DC-5CF7-05D1-07D3-094320219C11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568950" y="230505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22AE06-4F9E-2EE7-1F75-F5275017430D}"/>
                </a:ext>
              </a:extLst>
            </p:cNvPr>
            <p:cNvSpPr txBox="1"/>
            <p:nvPr/>
          </p:nvSpPr>
          <p:spPr>
            <a:xfrm>
              <a:off x="3028950" y="3511978"/>
              <a:ext cx="1998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và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xác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nhận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quyên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góp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DC64734-48F8-3F25-FFD1-CFA8EF4272E8}"/>
              </a:ext>
            </a:extLst>
          </p:cNvPr>
          <p:cNvGrpSpPr/>
          <p:nvPr/>
        </p:nvGrpSpPr>
        <p:grpSpPr>
          <a:xfrm>
            <a:off x="7962900" y="2305050"/>
            <a:ext cx="1998133" cy="1853259"/>
            <a:chOff x="3028950" y="2305050"/>
            <a:chExt cx="1998133" cy="1853259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15" name="Slide Zoom 14">
                  <a:extLst>
                    <a:ext uri="{FF2B5EF4-FFF2-40B4-BE49-F238E27FC236}">
                      <a16:creationId xmlns:a16="http://schemas.microsoft.com/office/drawing/2014/main" id="{2C363F86-04A5-1EAC-0BD7-1EC23C439A2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30382380"/>
                    </p:ext>
                  </p:extLst>
                </p:nvPr>
              </p:nvGraphicFramePr>
              <p:xfrm>
                <a:off x="302895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9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15" name="Slide Zoom 14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2C363F86-04A5-1EAC-0BD7-1EC23C439A2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62900" y="230505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558F08-E41F-8FE4-FAC6-15C3A2FB85E1}"/>
                </a:ext>
              </a:extLst>
            </p:cNvPr>
            <p:cNvSpPr txBox="1"/>
            <p:nvPr/>
          </p:nvSpPr>
          <p:spPr>
            <a:xfrm>
              <a:off x="3028950" y="3511978"/>
              <a:ext cx="199813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Quản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lý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người</a:t>
              </a:r>
              <a:r>
                <a:rPr 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b="1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dùng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85B14D-B41F-C9D8-9010-044E91CC7D8E}"/>
              </a:ext>
            </a:extLst>
          </p:cNvPr>
          <p:cNvGrpSpPr/>
          <p:nvPr/>
        </p:nvGrpSpPr>
        <p:grpSpPr>
          <a:xfrm>
            <a:off x="3155950" y="4470400"/>
            <a:ext cx="1998133" cy="2130258"/>
            <a:chOff x="3028950" y="2305050"/>
            <a:chExt cx="1998133" cy="2130258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23" name="Slide Zoom 22">
                  <a:extLst>
                    <a:ext uri="{FF2B5EF4-FFF2-40B4-BE49-F238E27FC236}">
                      <a16:creationId xmlns:a16="http://schemas.microsoft.com/office/drawing/2014/main" id="{078A9972-6C62-50C6-7FDF-6ED30E935B8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130382380"/>
                    </p:ext>
                  </p:extLst>
                </p:nvPr>
              </p:nvGraphicFramePr>
              <p:xfrm>
                <a:off x="3028950" y="2305050"/>
                <a:ext cx="1998133" cy="1123950"/>
              </p:xfrm>
              <a:graphic>
                <a:graphicData uri="http://schemas.microsoft.com/office/powerpoint/2016/slidezoom">
                  <pslz:sldZm>
                    <pslz:sldZmObj sldId="266" cId="3895440992">
                      <pslz:zmPr id="{CB685BDF-D77C-4DEF-8795-06F85275D2BB}" returnToParent="0" transitionDur="1000">
                        <p166:blipFill xmlns:p166="http://schemas.microsoft.com/office/powerpoint/2016/6/main">
                          <a:blip r:embed="rId11"/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998133" cy="1123950"/>
                          </a:xfrm>
                          <a:prstGeom prst="rect">
                            <a:avLst/>
                          </a:prstGeom>
                          <a:ln w="3175">
                            <a:solidFill>
                              <a:prstClr val="ltGray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23" name="Slide Zoom 22">
                  <a:hlinkClick r:id="rId3" action="ppaction://hlinksldjump"/>
                  <a:extLst>
                    <a:ext uri="{FF2B5EF4-FFF2-40B4-BE49-F238E27FC236}">
                      <a16:creationId xmlns:a16="http://schemas.microsoft.com/office/drawing/2014/main" id="{078A9972-6C62-50C6-7FDF-6ED30E935B8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55950" y="4470400"/>
                  <a:ext cx="1998133" cy="112395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1B74B56-A85F-BFA2-4E20-DAF6B50B101B}"/>
                </a:ext>
              </a:extLst>
            </p:cNvPr>
            <p:cNvSpPr txBox="1"/>
            <p:nvPr/>
          </p:nvSpPr>
          <p:spPr>
            <a:xfrm>
              <a:off x="3028950" y="3511978"/>
              <a:ext cx="199813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Theo dõi chiến dịch và hồ sơ cá nhân</a:t>
              </a:r>
              <a:endParaRPr lang="en-US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5440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72C77A-49D4-F0B5-BF69-FF92FE76FB9A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Phân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quyền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và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bảo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mật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36FBB4-C686-8A5F-4554-59FDAB91CCDF}"/>
              </a:ext>
            </a:extLst>
          </p:cNvPr>
          <p:cNvGrpSpPr/>
          <p:nvPr/>
        </p:nvGrpSpPr>
        <p:grpSpPr>
          <a:xfrm>
            <a:off x="708025" y="1567160"/>
            <a:ext cx="4835524" cy="846385"/>
            <a:chOff x="708025" y="1567160"/>
            <a:chExt cx="4835524" cy="846385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E71C60E-71E3-0FC1-25BA-70EC696CE786}"/>
                </a:ext>
              </a:extLst>
            </p:cNvPr>
            <p:cNvSpPr/>
            <p:nvPr/>
          </p:nvSpPr>
          <p:spPr>
            <a:xfrm rot="5400000" flipH="1">
              <a:off x="721767" y="1630363"/>
              <a:ext cx="769440" cy="796924"/>
            </a:xfrm>
            <a:custGeom>
              <a:avLst/>
              <a:gdLst>
                <a:gd name="csX0" fmla="*/ 946150 w 946150"/>
                <a:gd name="csY0" fmla="*/ 0 h 660401"/>
                <a:gd name="csX1" fmla="*/ 82550 w 946150"/>
                <a:gd name="csY1" fmla="*/ 0 h 660401"/>
                <a:gd name="csX2" fmla="*/ 0 w 946150"/>
                <a:gd name="csY2" fmla="*/ 330200 h 660401"/>
                <a:gd name="csX3" fmla="*/ 863600 w 946150"/>
                <a:gd name="csY3" fmla="*/ 330200 h 660401"/>
                <a:gd name="csX4" fmla="*/ 946150 w 946150"/>
                <a:gd name="csY4" fmla="*/ 660401 h 660401"/>
                <a:gd name="csX5" fmla="*/ 863600 w 946150"/>
                <a:gd name="csY5" fmla="*/ 330201 h 660401"/>
                <a:gd name="csX6" fmla="*/ 0 w 946150"/>
                <a:gd name="csY6" fmla="*/ 330201 h 660401"/>
                <a:gd name="csX7" fmla="*/ 82550 w 946150"/>
                <a:gd name="csY7" fmla="*/ 660401 h 66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46150" h="660401">
                  <a:moveTo>
                    <a:pt x="946150" y="0"/>
                  </a:moveTo>
                  <a:lnTo>
                    <a:pt x="82550" y="0"/>
                  </a:lnTo>
                  <a:lnTo>
                    <a:pt x="0" y="330200"/>
                  </a:lnTo>
                  <a:lnTo>
                    <a:pt x="863600" y="330200"/>
                  </a:lnTo>
                  <a:close/>
                  <a:moveTo>
                    <a:pt x="946150" y="660401"/>
                  </a:moveTo>
                  <a:lnTo>
                    <a:pt x="863600" y="330201"/>
                  </a:lnTo>
                  <a:lnTo>
                    <a:pt x="0" y="330201"/>
                  </a:lnTo>
                  <a:lnTo>
                    <a:pt x="82550" y="66040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3154E50-859C-87AA-B3A3-BB9AD797C0EF}"/>
                </a:ext>
              </a:extLst>
            </p:cNvPr>
            <p:cNvGrpSpPr/>
            <p:nvPr/>
          </p:nvGrpSpPr>
          <p:grpSpPr>
            <a:xfrm>
              <a:off x="1504949" y="1567160"/>
              <a:ext cx="4038600" cy="830997"/>
              <a:chOff x="1504949" y="1567160"/>
              <a:chExt cx="4038600" cy="830997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FC7635-805E-4077-3C52-52F9984D6F7A}"/>
                  </a:ext>
                </a:extLst>
              </p:cNvPr>
              <p:cNvSpPr txBox="1"/>
              <p:nvPr/>
            </p:nvSpPr>
            <p:spPr>
              <a:xfrm>
                <a:off x="1504949" y="1567160"/>
                <a:ext cx="2697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GUEST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0628AB-3EAC-B93E-E58D-B0A5E650FB48}"/>
                  </a:ext>
                </a:extLst>
              </p:cNvPr>
              <p:cNvSpPr txBox="1"/>
              <p:nvPr/>
            </p:nvSpPr>
            <p:spPr>
              <a:xfrm>
                <a:off x="1504949" y="2028825"/>
                <a:ext cx="4038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xem</a:t>
                </a:r>
                <a:r>
                  <a:rPr lang="en-US" dirty="0"/>
                  <a:t> </a:t>
                </a:r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khai</a:t>
                </a:r>
                <a:r>
                  <a:rPr lang="en-US" dirty="0"/>
                  <a:t>,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thực</a:t>
                </a:r>
                <a:endParaRPr lang="en-US" dirty="0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4435E1D-5ED7-0030-8AD5-E81E4666E052}"/>
              </a:ext>
            </a:extLst>
          </p:cNvPr>
          <p:cNvGrpSpPr/>
          <p:nvPr/>
        </p:nvGrpSpPr>
        <p:grpSpPr>
          <a:xfrm>
            <a:off x="708025" y="2359684"/>
            <a:ext cx="6296024" cy="846385"/>
            <a:chOff x="708025" y="1567160"/>
            <a:chExt cx="6296024" cy="84638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F13FE4D-14D6-F69D-548E-4A9B1D0188A8}"/>
                </a:ext>
              </a:extLst>
            </p:cNvPr>
            <p:cNvSpPr/>
            <p:nvPr/>
          </p:nvSpPr>
          <p:spPr>
            <a:xfrm rot="5400000" flipH="1">
              <a:off x="721767" y="1630363"/>
              <a:ext cx="769440" cy="796924"/>
            </a:xfrm>
            <a:custGeom>
              <a:avLst/>
              <a:gdLst>
                <a:gd name="csX0" fmla="*/ 946150 w 946150"/>
                <a:gd name="csY0" fmla="*/ 0 h 660401"/>
                <a:gd name="csX1" fmla="*/ 82550 w 946150"/>
                <a:gd name="csY1" fmla="*/ 0 h 660401"/>
                <a:gd name="csX2" fmla="*/ 0 w 946150"/>
                <a:gd name="csY2" fmla="*/ 330200 h 660401"/>
                <a:gd name="csX3" fmla="*/ 863600 w 946150"/>
                <a:gd name="csY3" fmla="*/ 330200 h 660401"/>
                <a:gd name="csX4" fmla="*/ 946150 w 946150"/>
                <a:gd name="csY4" fmla="*/ 660401 h 660401"/>
                <a:gd name="csX5" fmla="*/ 863600 w 946150"/>
                <a:gd name="csY5" fmla="*/ 330201 h 660401"/>
                <a:gd name="csX6" fmla="*/ 0 w 946150"/>
                <a:gd name="csY6" fmla="*/ 330201 h 660401"/>
                <a:gd name="csX7" fmla="*/ 82550 w 946150"/>
                <a:gd name="csY7" fmla="*/ 660401 h 66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46150" h="660401">
                  <a:moveTo>
                    <a:pt x="946150" y="0"/>
                  </a:moveTo>
                  <a:lnTo>
                    <a:pt x="82550" y="0"/>
                  </a:lnTo>
                  <a:lnTo>
                    <a:pt x="0" y="330200"/>
                  </a:lnTo>
                  <a:lnTo>
                    <a:pt x="863600" y="330200"/>
                  </a:lnTo>
                  <a:close/>
                  <a:moveTo>
                    <a:pt x="946150" y="660401"/>
                  </a:moveTo>
                  <a:lnTo>
                    <a:pt x="863600" y="330201"/>
                  </a:lnTo>
                  <a:lnTo>
                    <a:pt x="0" y="330201"/>
                  </a:lnTo>
                  <a:lnTo>
                    <a:pt x="82550" y="66040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27704AD-47D4-3140-445F-DF1B418FCC6F}"/>
                </a:ext>
              </a:extLst>
            </p:cNvPr>
            <p:cNvGrpSpPr/>
            <p:nvPr/>
          </p:nvGrpSpPr>
          <p:grpSpPr>
            <a:xfrm>
              <a:off x="1504948" y="1567160"/>
              <a:ext cx="5499101" cy="830997"/>
              <a:chOff x="1504948" y="1567160"/>
              <a:chExt cx="5499101" cy="830997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303451-05D6-F9D7-49D6-2CDF7FCD3965}"/>
                  </a:ext>
                </a:extLst>
              </p:cNvPr>
              <p:cNvSpPr txBox="1"/>
              <p:nvPr/>
            </p:nvSpPr>
            <p:spPr>
              <a:xfrm>
                <a:off x="1504949" y="1567160"/>
                <a:ext cx="2697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USER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504D419-82C5-745B-4F9B-5C813AAC4111}"/>
                  </a:ext>
                </a:extLst>
              </p:cNvPr>
              <p:cNvSpPr txBox="1"/>
              <p:nvPr/>
            </p:nvSpPr>
            <p:spPr>
              <a:xfrm>
                <a:off x="1504948" y="2028825"/>
                <a:ext cx="54991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xem</a:t>
                </a:r>
                <a:r>
                  <a:rPr lang="en-US" dirty="0"/>
                  <a:t> </a:t>
                </a:r>
                <a:r>
                  <a:rPr lang="en-US" dirty="0" err="1"/>
                  <a:t>lịch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quyên</a:t>
                </a:r>
                <a:r>
                  <a:rPr lang="en-US" dirty="0"/>
                  <a:t> </a:t>
                </a:r>
                <a:r>
                  <a:rPr lang="en-US" dirty="0" err="1"/>
                  <a:t>góp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quản</a:t>
                </a:r>
                <a:r>
                  <a:rPr lang="en-US" dirty="0"/>
                  <a:t>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hồ</a:t>
                </a:r>
                <a:r>
                  <a:rPr lang="en-US" dirty="0"/>
                  <a:t> </a:t>
                </a:r>
                <a:r>
                  <a:rPr lang="en-US" dirty="0" err="1"/>
                  <a:t>sơ</a:t>
                </a:r>
                <a:r>
                  <a:rPr lang="en-US" dirty="0"/>
                  <a:t> </a:t>
                </a:r>
                <a:r>
                  <a:rPr lang="en-US" dirty="0" err="1"/>
                  <a:t>cá</a:t>
                </a:r>
                <a:r>
                  <a:rPr lang="en-US" dirty="0"/>
                  <a:t> </a:t>
                </a:r>
                <a:r>
                  <a:rPr lang="en-US" dirty="0" err="1"/>
                  <a:t>nhân</a:t>
                </a:r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4F50833-B9A9-0F5B-D149-90D9AB9F841A}"/>
              </a:ext>
            </a:extLst>
          </p:cNvPr>
          <p:cNvGrpSpPr/>
          <p:nvPr/>
        </p:nvGrpSpPr>
        <p:grpSpPr>
          <a:xfrm>
            <a:off x="708025" y="3152208"/>
            <a:ext cx="4835524" cy="846385"/>
            <a:chOff x="708025" y="1567160"/>
            <a:chExt cx="4835524" cy="846385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5108B6C-081C-1C67-FA84-38F02F1439CF}"/>
                </a:ext>
              </a:extLst>
            </p:cNvPr>
            <p:cNvSpPr/>
            <p:nvPr/>
          </p:nvSpPr>
          <p:spPr>
            <a:xfrm rot="5400000" flipH="1">
              <a:off x="721767" y="1630363"/>
              <a:ext cx="769440" cy="796924"/>
            </a:xfrm>
            <a:custGeom>
              <a:avLst/>
              <a:gdLst>
                <a:gd name="csX0" fmla="*/ 946150 w 946150"/>
                <a:gd name="csY0" fmla="*/ 0 h 660401"/>
                <a:gd name="csX1" fmla="*/ 82550 w 946150"/>
                <a:gd name="csY1" fmla="*/ 0 h 660401"/>
                <a:gd name="csX2" fmla="*/ 0 w 946150"/>
                <a:gd name="csY2" fmla="*/ 330200 h 660401"/>
                <a:gd name="csX3" fmla="*/ 863600 w 946150"/>
                <a:gd name="csY3" fmla="*/ 330200 h 660401"/>
                <a:gd name="csX4" fmla="*/ 946150 w 946150"/>
                <a:gd name="csY4" fmla="*/ 660401 h 660401"/>
                <a:gd name="csX5" fmla="*/ 863600 w 946150"/>
                <a:gd name="csY5" fmla="*/ 330201 h 660401"/>
                <a:gd name="csX6" fmla="*/ 0 w 946150"/>
                <a:gd name="csY6" fmla="*/ 330201 h 660401"/>
                <a:gd name="csX7" fmla="*/ 82550 w 946150"/>
                <a:gd name="csY7" fmla="*/ 660401 h 660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946150" h="660401">
                  <a:moveTo>
                    <a:pt x="946150" y="0"/>
                  </a:moveTo>
                  <a:lnTo>
                    <a:pt x="82550" y="0"/>
                  </a:lnTo>
                  <a:lnTo>
                    <a:pt x="0" y="330200"/>
                  </a:lnTo>
                  <a:lnTo>
                    <a:pt x="863600" y="330200"/>
                  </a:lnTo>
                  <a:close/>
                  <a:moveTo>
                    <a:pt x="946150" y="660401"/>
                  </a:moveTo>
                  <a:lnTo>
                    <a:pt x="863600" y="330201"/>
                  </a:lnTo>
                  <a:lnTo>
                    <a:pt x="0" y="330201"/>
                  </a:lnTo>
                  <a:lnTo>
                    <a:pt x="82550" y="660401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6CE3585-6FB7-5D49-F691-20D59C12DB17}"/>
                </a:ext>
              </a:extLst>
            </p:cNvPr>
            <p:cNvGrpSpPr/>
            <p:nvPr/>
          </p:nvGrpSpPr>
          <p:grpSpPr>
            <a:xfrm>
              <a:off x="1504949" y="1567160"/>
              <a:ext cx="4038600" cy="830997"/>
              <a:chOff x="1504949" y="1567160"/>
              <a:chExt cx="4038600" cy="830997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B1A80E-AC93-BDE1-CA34-EAA667FA5F0C}"/>
                  </a:ext>
                </a:extLst>
              </p:cNvPr>
              <p:cNvSpPr txBox="1"/>
              <p:nvPr/>
            </p:nvSpPr>
            <p:spPr>
              <a:xfrm>
                <a:off x="1504949" y="1567160"/>
                <a:ext cx="26974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ADMIN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D1F4EC-24B9-EB52-90C5-866F84C5DEF0}"/>
                  </a:ext>
                </a:extLst>
              </p:cNvPr>
              <p:cNvSpPr txBox="1"/>
              <p:nvPr/>
            </p:nvSpPr>
            <p:spPr>
              <a:xfrm>
                <a:off x="1504949" y="2028825"/>
                <a:ext cx="4038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Quản </a:t>
                </a:r>
                <a:r>
                  <a:rPr lang="en-US" dirty="0" err="1"/>
                  <a:t>lý</a:t>
                </a:r>
                <a:r>
                  <a:rPr lang="en-US" dirty="0"/>
                  <a:t> </a:t>
                </a:r>
                <a:r>
                  <a:rPr lang="en-US" dirty="0" err="1"/>
                  <a:t>toàn</a:t>
                </a:r>
                <a:r>
                  <a:rPr lang="en-US" dirty="0"/>
                  <a:t> </a:t>
                </a:r>
                <a:r>
                  <a:rPr lang="en-US" dirty="0" err="1"/>
                  <a:t>hộ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thống</a:t>
                </a:r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2060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BE92C-2E8D-72F5-3B23-54794C22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B91DB9-2359-3AFE-ED02-D033C1D185DE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Demo Giao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diện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999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759B-7679-2A75-BFAA-291262D5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D88798-628D-F55D-413F-003409DC55C5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Demo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thực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tế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865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50C7C-41A6-CE82-7317-A7AE95A2F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6B2496-FE60-7A46-4534-2A2C954418FE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Kiểm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thử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740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06B6-9979-54F7-B630-6031746E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9237DC-E065-5F62-59AB-CC916E64FE58}"/>
              </a:ext>
            </a:extLst>
          </p:cNvPr>
          <p:cNvSpPr txBox="1"/>
          <p:nvPr/>
        </p:nvSpPr>
        <p:spPr>
          <a:xfrm>
            <a:off x="426720" y="322583"/>
            <a:ext cx="69646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Kết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quả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đạt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được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852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5BF91-12C4-7B91-80EB-D8D95892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EE852-5C0D-BA7C-F10A-1E14720AE886}"/>
              </a:ext>
            </a:extLst>
          </p:cNvPr>
          <p:cNvSpPr txBox="1"/>
          <p:nvPr/>
        </p:nvSpPr>
        <p:spPr>
          <a:xfrm>
            <a:off x="426720" y="322583"/>
            <a:ext cx="7669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Hạn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chế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và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hướng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phát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triển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50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F573-3DC5-CBC3-610F-53B31C0A7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B9F607-B984-34C0-03FA-7F6FF7FF753C}"/>
              </a:ext>
            </a:extLst>
          </p:cNvPr>
          <p:cNvSpPr txBox="1"/>
          <p:nvPr/>
        </p:nvSpPr>
        <p:spPr>
          <a:xfrm>
            <a:off x="426720" y="322583"/>
            <a:ext cx="7669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Kết</a:t>
            </a: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4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luận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806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598</Words>
  <Application>Microsoft Office PowerPoint</Application>
  <PresentationFormat>Widescreen</PresentationFormat>
  <Paragraphs>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Scove Mr</dc:creator>
  <cp:lastModifiedBy>Scove Mr</cp:lastModifiedBy>
  <cp:revision>3</cp:revision>
  <dcterms:created xsi:type="dcterms:W3CDTF">2026-04-13T03:19:48Z</dcterms:created>
  <dcterms:modified xsi:type="dcterms:W3CDTF">2026-04-14T02:34:33Z</dcterms:modified>
</cp:coreProperties>
</file>